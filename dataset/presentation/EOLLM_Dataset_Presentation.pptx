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0096C7"/>
                </a:solidFill>
                <a:latin typeface="Calibri"/>
              </a:defRPr>
            </a:pPr>
            <a:r>
              <a:t>EOLLM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A Multi-City Visual Question Answering Dataset</a:t>
            </a:r>
            <a:br/>
            <a:r>
              <a:t>for Urban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99999"/>
                </a:solidFill>
                <a:latin typeface="Calibri"/>
              </a:defRPr>
            </a:pPr>
            <a:r>
              <a:t>[TODO: Author names]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120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  <a:latin typeface="Calibri"/>
              </a:defRPr>
            </a:pPr>
            <a:r>
              <a:t>[TODO: Affiliation / Conference / 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96C7"/>
                </a:solidFill>
                <a:latin typeface="Calibri"/>
              </a:defRPr>
            </a:pPr>
            <a:r>
              <a:t>Motivation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E0E0E0"/>
                </a:solidFill>
                <a:latin typeface="Calibri"/>
              </a:defRPr>
            </a:pPr>
            <a:r>
              <a:t>Vision-Language Models (VLMs) show strong performance on natural image QA,</a:t>
            </a:r>
            <a:br/>
            <a:r>
              <a:t>but urban/geospatial understanding remains under-evaluated</a:t>
            </a:r>
          </a:p>
          <a:p>
            <a:pPr>
              <a:spcAft>
                <a:spcPts val="800"/>
              </a:spcAft>
              <a:defRPr sz="2000">
                <a:solidFill>
                  <a:srgbClr val="E0E0E0"/>
                </a:solidFill>
                <a:latin typeface="Calibri"/>
              </a:defRPr>
            </a:pPr>
            <a:r>
              <a:t>Existing VQA benchmarks lack multi-modal pairing of satellite + street-level imagery</a:t>
            </a:r>
          </a:p>
          <a:p>
            <a:pPr>
              <a:spcAft>
                <a:spcPts val="800"/>
              </a:spcAft>
              <a:defRPr sz="2000">
                <a:solidFill>
                  <a:srgbClr val="E0E0E0"/>
                </a:solidFill>
                <a:latin typeface="Calibri"/>
              </a:defRPr>
            </a:pPr>
            <a:r>
              <a:t>No standardized benchmark tests both urbanization understanding</a:t>
            </a:r>
            <a:br/>
            <a:r>
              <a:t>and cross-view geolocalization in a unified framework</a:t>
            </a:r>
          </a:p>
          <a:p>
            <a:pPr>
              <a:spcAft>
                <a:spcPts val="800"/>
              </a:spcAft>
              <a:defRPr sz="2000">
                <a:solidFill>
                  <a:srgbClr val="E0E0E0"/>
                </a:solidFill>
                <a:latin typeface="Calibri"/>
              </a:defRPr>
            </a:pPr>
            <a:r>
              <a:t>Need: a geographically diverse, metadata-grounded dataset with</a:t>
            </a:r>
            <a:br/>
            <a:r>
              <a:t>deterministic (non-subjective) ground truth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96C7"/>
                </a:solidFill>
                <a:latin typeface="Calibri"/>
              </a:defRPr>
            </a:pPr>
            <a:r>
              <a:t>Dataset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0096C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9900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17373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0E0"/>
                </a:solidFill>
                <a:latin typeface="Calibri"/>
              </a:defRPr>
            </a:pPr>
            <a:r>
              <a:t>Cities across 8 countries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9900"/>
                </a:solidFill>
                <a:latin typeface="Calibri"/>
              </a:defRPr>
            </a:pPr>
            <a:r>
              <a:t>1,459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7373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0E0"/>
                </a:solidFill>
                <a:latin typeface="Calibri"/>
              </a:defRPr>
            </a:pPr>
            <a:r>
              <a:t>Unique locations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10896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9900"/>
                </a:solidFill>
                <a:latin typeface="Calibri"/>
              </a:defRPr>
            </a:pPr>
            <a:r>
              <a:t>25,696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32004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0E0"/>
                </a:solidFill>
                <a:latin typeface="Calibri"/>
              </a:defRPr>
            </a:pPr>
            <a:r>
              <a:t>Total 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10896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9900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32004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0E0"/>
                </a:solidFill>
                <a:latin typeface="Calibri"/>
              </a:defRPr>
            </a:pPr>
            <a:r>
              <a:t>Question types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57200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9900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46634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0E0"/>
                </a:solidFill>
                <a:latin typeface="Calibri"/>
              </a:defRPr>
            </a:pPr>
            <a:r>
              <a:t>Task families: Urbanization + Geolocalization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7200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9900"/>
                </a:solidFill>
                <a:latin typeface="Calibri"/>
              </a:defRPr>
            </a:pPr>
            <a:r>
              <a:t>51K+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6634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0E0"/>
                </a:solidFill>
                <a:latin typeface="Calibri"/>
              </a:defRPr>
            </a:pPr>
            <a:r>
              <a:t>Images (satellite + street view + composites)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Calibri"/>
              </a:defRPr>
            </a:pPr>
            <a:r>
              <a:t>[TODO: Update numbers with final dataset statistics]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96C7"/>
                </a:solidFill>
                <a:latin typeface="Calibri"/>
              </a:defRPr>
            </a:pPr>
            <a:r>
              <a:t>Pipeline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0096C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1371600" cy="1645920"/>
          </a:xfrm>
          <a:prstGeom prst="roundRect">
            <a:avLst/>
          </a:prstGeom>
          <a:solidFill>
            <a:srgbClr val="2A2A45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1031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99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46888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Sample</a:t>
            </a:r>
            <a:br/>
            <a:r>
              <a:t>Locations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01752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OSM road</a:t>
            </a:r>
            <a:br/>
            <a:r>
              <a:t>network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6060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96C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57400" y="2011680"/>
            <a:ext cx="1371600" cy="1645920"/>
          </a:xfrm>
          <a:prstGeom prst="roundRect">
            <a:avLst/>
          </a:prstGeom>
          <a:solidFill>
            <a:srgbClr val="2A2A45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0" y="21031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9900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46888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Fetch</a:t>
            </a:r>
            <a:br/>
            <a:r>
              <a:t>Satellite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301752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GEE / ESRI</a:t>
            </a:r>
            <a:br/>
            <a:r>
              <a:t>/ 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6060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96C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0" y="2011680"/>
            <a:ext cx="1371600" cy="1645920"/>
          </a:xfrm>
          <a:prstGeom prst="roundRect">
            <a:avLst/>
          </a:prstGeom>
          <a:solidFill>
            <a:srgbClr val="2A2A45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3320" y="21031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9900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246888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Fetch</a:t>
            </a:r>
            <a:br/>
            <a:r>
              <a:t>Street 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301752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Google SV</a:t>
            </a:r>
            <a:br/>
            <a:r>
              <a:t>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6060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96C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57800" y="2011680"/>
            <a:ext cx="1371600" cy="1645920"/>
          </a:xfrm>
          <a:prstGeom prst="roundRect">
            <a:avLst/>
          </a:prstGeom>
          <a:solidFill>
            <a:srgbClr val="2A2A45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0" y="21031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9900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246888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Enrich</a:t>
            </a:r>
            <a:br/>
            <a:r>
              <a:t>Metadata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301752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OSM +</a:t>
            </a:r>
            <a:br/>
            <a:r>
              <a:t>Nominatim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26060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96C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0" y="2011680"/>
            <a:ext cx="1371600" cy="1645920"/>
          </a:xfrm>
          <a:prstGeom prst="roundRect">
            <a:avLst/>
          </a:prstGeom>
          <a:solidFill>
            <a:srgbClr val="2A2A45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03720" y="21031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9900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246888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Generate</a:t>
            </a:r>
            <a:br/>
            <a:r>
              <a:t>Composites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301752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Arrows +</a:t>
            </a:r>
            <a:br/>
            <a:r>
              <a:t>Grids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26060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96C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58200" y="2011680"/>
            <a:ext cx="1371600" cy="1645920"/>
          </a:xfrm>
          <a:prstGeom prst="roundRect">
            <a:avLst/>
          </a:prstGeom>
          <a:solidFill>
            <a:srgbClr val="2A2A45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3920" y="21031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9900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246888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Generate</a:t>
            </a:r>
            <a:br/>
            <a:r>
              <a:t>Questions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301752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Templates</a:t>
            </a:r>
            <a:br/>
            <a:r>
              <a:t>+ MCQ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29800" y="26060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96C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058400" y="2011680"/>
            <a:ext cx="1371600" cy="1645920"/>
          </a:xfrm>
          <a:prstGeom prst="roundRect">
            <a:avLst/>
          </a:prstGeom>
          <a:solidFill>
            <a:srgbClr val="2A2A45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04120" y="21031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9900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04120" y="246888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Validate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04120" y="301752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Quality</a:t>
            </a:r>
            <a:br/>
            <a:r>
              <a:t>filters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43891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Calibri"/>
              </a:defRPr>
            </a:pPr>
            <a:r>
              <a:t>Linear chain: each step enriches sample dicts passed to the next.</a:t>
            </a:r>
            <a:br/>
            <a:r>
              <a:t>Final output: dataset.jsonl with all questions, images, and validation flags.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96C7"/>
                </a:solidFill>
                <a:latin typeface="Calibri"/>
              </a:defRPr>
            </a:pPr>
            <a:r>
              <a:t>Geographic Coverage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0096C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486400" cy="4572000"/>
          </a:xfrm>
          <a:prstGeom prst="rect">
            <a:avLst/>
          </a:prstGeom>
          <a:solidFill>
            <a:srgbClr val="333350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0"/>
              </a:spcBef>
              <a:defRPr sz="1400">
                <a:solidFill>
                  <a:srgbClr val="999999"/>
                </a:solidFill>
                <a:latin typeface="Calibri"/>
              </a:defRPr>
            </a:pPr>
            <a:r>
              <a:t>[TODO: World map with 13 city markers]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Turkey: Samsun, Antalya</a:t>
            </a:r>
          </a:p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Switzerland: Zurich</a:t>
            </a:r>
          </a:p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Russia: St. Petersburg, Moscow</a:t>
            </a:r>
          </a:p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Portugal: Lisbon</a:t>
            </a:r>
          </a:p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Cyprus: Nicosia</a:t>
            </a:r>
          </a:p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Iceland: Reykjavik</a:t>
            </a:r>
          </a:p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Estonia: Tallinn</a:t>
            </a:r>
          </a:p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Argentina: Buenos Aires</a:t>
            </a:r>
          </a:p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Belgium: Brussels</a:t>
            </a:r>
          </a:p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Austria: Vienna</a:t>
            </a:r>
          </a:p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Hungary: Budapest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53035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5 urban character types per city:</a:t>
            </a:r>
            <a:br/>
            <a:r>
              <a:t>Commercial, Residential, Mixed-use, Industrial, Natural/Recreation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96C7"/>
                </a:solidFill>
                <a:latin typeface="Calibri"/>
              </a:defRPr>
            </a:pPr>
            <a:r>
              <a:t>Data 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E0E0E0"/>
                </a:solidFill>
                <a:latin typeface="Calibri"/>
              </a:defRPr>
            </a:pPr>
            <a:r>
              <a:t>Satellite imagery (512x512 px) -- multi-source with automatic fallback:</a:t>
            </a:r>
          </a:p>
          <a:p>
            <a:pPr lvl="1">
              <a:spcAft>
                <a:spcPts val="400"/>
              </a:spcAft>
              <a:defRPr sz="1600">
                <a:solidFill>
                  <a:srgbClr val="999999"/>
                </a:solidFill>
                <a:latin typeface="Calibri"/>
              </a:defRPr>
            </a:pPr>
            <a:r>
              <a:t>NAIP via Google Earth Engine (US) -- 0.6 m/px</a:t>
            </a:r>
          </a:p>
          <a:p>
            <a:pPr lvl="1">
              <a:spcAft>
                <a:spcPts val="400"/>
              </a:spcAft>
              <a:defRPr sz="1600">
                <a:solidFill>
                  <a:srgbClr val="999999"/>
                </a:solidFill>
                <a:latin typeface="Calibri"/>
              </a:defRPr>
            </a:pPr>
            <a:r>
              <a:t>IGN Geoplateforme WMS (France) -- 0.2 m/px</a:t>
            </a:r>
          </a:p>
          <a:p>
            <a:pPr lvl="1">
              <a:spcAft>
                <a:spcPts val="400"/>
              </a:spcAft>
              <a:defRPr sz="1600">
                <a:solidFill>
                  <a:srgbClr val="999999"/>
                </a:solidFill>
                <a:latin typeface="Calibri"/>
              </a:defRPr>
            </a:pPr>
            <a:r>
              <a:t>ESRI World Imagery REST (Europe, Turkey) -- 0.3-0.5 m/px</a:t>
            </a:r>
          </a:p>
          <a:p>
            <a:pPr lvl="1">
              <a:spcAft>
                <a:spcPts val="400"/>
              </a:spcAft>
              <a:defRPr sz="1600">
                <a:solidFill>
                  <a:srgbClr val="999999"/>
                </a:solidFill>
                <a:latin typeface="Calibri"/>
              </a:defRPr>
            </a:pPr>
            <a:r>
              <a:t>Sentinel-2 via GEE (global fallback) -- 10 m/px</a:t>
            </a:r>
          </a:p>
          <a:p>
            <a:pPr>
              <a:spcAft>
                <a:spcPts val="800"/>
              </a:spcAft>
              <a:defRPr sz="2000">
                <a:solidFill>
                  <a:srgbClr val="E0E0E0"/>
                </a:solidFill>
                <a:latin typeface="Calibri"/>
              </a:defRPr>
            </a:pPr>
            <a:r>
              <a:t>Street View imagery (640x640 px) -- Google Street View Static API</a:t>
            </a:r>
          </a:p>
          <a:p>
            <a:pPr lvl="1">
              <a:spcAft>
                <a:spcPts val="400"/>
              </a:spcAft>
              <a:defRPr sz="1600">
                <a:solidFill>
                  <a:srgbClr val="999999"/>
                </a:solidFill>
                <a:latin typeface="Calibri"/>
              </a:defRPr>
            </a:pPr>
            <a:r>
              <a:t>4 road-aligned headings: forward, backward, left, right</a:t>
            </a:r>
          </a:p>
          <a:p>
            <a:pPr lvl="1">
              <a:spcAft>
                <a:spcPts val="400"/>
              </a:spcAft>
              <a:defRPr sz="1600">
                <a:solidFill>
                  <a:srgbClr val="999999"/>
                </a:solidFill>
                <a:latin typeface="Calibri"/>
              </a:defRPr>
            </a:pPr>
            <a:r>
              <a:t>Outdoor-only, tunnel detection heuristic, snap distance &lt; 80 m</a:t>
            </a:r>
          </a:p>
          <a:p>
            <a:pPr>
              <a:spcAft>
                <a:spcPts val="800"/>
              </a:spcAft>
              <a:defRPr sz="2000">
                <a:solidFill>
                  <a:srgbClr val="E0E0E0"/>
                </a:solidFill>
                <a:latin typeface="Calibri"/>
              </a:defRPr>
            </a:pPr>
            <a:r>
              <a:t>OpenStreetMap metadata -- Overpass API (buildings, roads, amenities, land use, transit, water)</a:t>
            </a:r>
          </a:p>
          <a:p>
            <a:pPr>
              <a:spcAft>
                <a:spcPts val="800"/>
              </a:spcAft>
              <a:defRPr sz="2000">
                <a:solidFill>
                  <a:srgbClr val="E0E0E0"/>
                </a:solidFill>
                <a:latin typeface="Calibri"/>
              </a:defRPr>
            </a:pPr>
            <a:r>
              <a:t>Reverse geocoding -- Nominatim API (suburb, district, postcode)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96C7"/>
                </a:solidFill>
                <a:latin typeface="Calibri"/>
              </a:defRPr>
            </a:pPr>
            <a:r>
              <a:t>Location Sampling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E0E0E0"/>
                </a:solidFill>
                <a:latin typeface="Calibri"/>
              </a:defRPr>
            </a:pPr>
            <a:r>
              <a:t>11 hand-curated seed locations per city covering 5 urban character types</a:t>
            </a:r>
          </a:p>
          <a:p>
            <a:pPr lvl="1">
              <a:spcAft>
                <a:spcPts val="400"/>
              </a:spcAft>
              <a:defRPr sz="1600">
                <a:solidFill>
                  <a:srgbClr val="999999"/>
                </a:solidFill>
                <a:latin typeface="Calibri"/>
              </a:defRPr>
            </a:pPr>
            <a:r>
              <a:t>Commercial (2), Residential (3), Mixed-use (2), Industrial (2), Natural/Recreation (2)</a:t>
            </a:r>
          </a:p>
          <a:p>
            <a:pPr>
              <a:spcAft>
                <a:spcPts val="800"/>
              </a:spcAft>
              <a:defRPr sz="2000">
                <a:solidFill>
                  <a:srgbClr val="E0E0E0"/>
                </a:solidFill>
                <a:latin typeface="Calibri"/>
              </a:defRPr>
            </a:pPr>
            <a:r>
              <a:t>Random sampling within city bounding box, then road-snapping via OSM</a:t>
            </a:r>
          </a:p>
          <a:p>
            <a:pPr lvl="1">
              <a:spcAft>
                <a:spcPts val="400"/>
              </a:spcAft>
              <a:defRPr sz="1600">
                <a:solidFill>
                  <a:srgbClr val="999999"/>
                </a:solidFill>
                <a:latin typeface="Calibri"/>
              </a:defRPr>
            </a:pPr>
            <a:r>
              <a:t>Snap to nearest road node; extract highway type and bearing angle (0-360 deg)</a:t>
            </a:r>
          </a:p>
          <a:p>
            <a:pPr>
              <a:spcAft>
                <a:spcPts val="800"/>
              </a:spcAft>
              <a:defRPr sz="2000">
                <a:solidFill>
                  <a:srgbClr val="E0E0E0"/>
                </a:solidFill>
                <a:latin typeface="Calibri"/>
              </a:defRPr>
            </a:pPr>
            <a:r>
              <a:t>Road bearing extracted for consistent street-view heading alignment</a:t>
            </a:r>
          </a:p>
          <a:p>
            <a:pPr>
              <a:spcAft>
                <a:spcPts val="800"/>
              </a:spcAft>
              <a:defRPr sz="2000">
                <a:solidFill>
                  <a:srgbClr val="E0E0E0"/>
                </a:solidFill>
                <a:latin typeface="Calibri"/>
              </a:defRPr>
            </a:pPr>
            <a:r>
              <a:t>Locations rejected if no OSM road within ~200 m radius</a:t>
            </a:r>
          </a:p>
          <a:p>
            <a:pPr>
              <a:spcAft>
                <a:spcPts val="800"/>
              </a:spcAft>
              <a:defRPr sz="2000">
                <a:solidFill>
                  <a:srgbClr val="E0E0E0"/>
                </a:solidFill>
                <a:latin typeface="Calibri"/>
              </a:defRPr>
            </a:pPr>
            <a:r>
              <a:t>~120 samples per city (configurable)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96C7"/>
                </a:solidFill>
                <a:latin typeface="Calibri"/>
              </a:defRPr>
            </a:pPr>
            <a:r>
              <a:t>Image Acquisition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0096C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9900"/>
                </a:solidFill>
                <a:latin typeface="Calibri"/>
              </a:defRPr>
            </a:pPr>
            <a:r>
              <a:t>Satellite Tile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2286000" cy="2286000"/>
          </a:xfrm>
          <a:prstGeom prst="rect">
            <a:avLst/>
          </a:prstGeom>
          <a:solidFill>
            <a:srgbClr val="333350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5000"/>
              </a:spcBef>
              <a:defRPr sz="1400">
                <a:solidFill>
                  <a:srgbClr val="999999"/>
                </a:solidFill>
                <a:latin typeface="Calibri"/>
              </a:defRPr>
            </a:pPr>
            <a:r>
              <a:t>[TODO: Sample</a:t>
            </a:r>
            <a:br/>
            <a:r>
              <a:t>satellite tile]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192024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• 512x512 px, configurable buffer radius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• Auto-detected source per region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• Fallback chain: NAIP &gt; IGN &gt; ESRI &gt; S2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• Quality filter: reject &lt; 5 KB tiles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• Cloud filter: S2 max 20% coverage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9900"/>
                </a:solidFill>
                <a:latin typeface="Calibri"/>
              </a:defRPr>
            </a:pPr>
            <a:r>
              <a:t>Street View (4 angles)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920240"/>
            <a:ext cx="2286000" cy="2286000"/>
          </a:xfrm>
          <a:prstGeom prst="rect">
            <a:avLst/>
          </a:prstGeom>
          <a:solidFill>
            <a:srgbClr val="333350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5000"/>
              </a:spcBef>
              <a:defRPr sz="1400">
                <a:solidFill>
                  <a:srgbClr val="999999"/>
                </a:solidFill>
                <a:latin typeface="Calibri"/>
              </a:defRPr>
            </a:pPr>
            <a:r>
              <a:t>[TODO: Sample</a:t>
            </a:r>
            <a:br/>
            <a:r>
              <a:t>4-angle SV grid]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92024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• 640x640 px, FOV 90 deg, pitch -5 deg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• 4 headings: fwd, bwd, left, right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• Road-bearing aligned for consistency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• Tunnel detection via RGB analysis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• Snap distance validated &lt; 80 m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572000"/>
            <a:ext cx="10515600" cy="1828800"/>
          </a:xfrm>
          <a:prstGeom prst="rect">
            <a:avLst/>
          </a:prstGeom>
          <a:solidFill>
            <a:srgbClr val="333350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0"/>
              </a:spcBef>
              <a:defRPr sz="1400">
                <a:solidFill>
                  <a:srgbClr val="999999"/>
                </a:solidFill>
                <a:latin typeface="Calibri"/>
              </a:defRPr>
            </a:pPr>
            <a:r>
              <a:t>[TODO: Example showing satellite + 4 street view angles for one location]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96C7"/>
                </a:solidFill>
                <a:latin typeface="Calibri"/>
              </a:defRPr>
            </a:pPr>
            <a:r>
              <a:t>OSM Metadata Extraction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0096C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560320"/>
                <a:gridCol w="1097280"/>
                <a:gridCol w="6217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 anchor="ctr">
                    <a:solidFill>
                      <a:srgbClr val="0050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Source</a:t>
                      </a:r>
                    </a:p>
                  </a:txBody>
                  <a:tcPr anchor="ctr">
                    <a:solidFill>
                      <a:srgbClr val="0050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Radius</a:t>
                      </a:r>
                    </a:p>
                  </a:txBody>
                  <a:tcPr anchor="ctr">
                    <a:solidFill>
                      <a:srgbClr val="0050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Derived Attribute</a:t>
                      </a:r>
                    </a:p>
                  </a:txBody>
                  <a:tcPr anchor="ctr">
                    <a:solidFill>
                      <a:srgbClr val="00507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Buildings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OSM building tags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200 m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Count, median levels, type distribution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Land Use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OSM landuse + heuristic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200 m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8 categories (residential, commercial, ...)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Roads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OSM highway tags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At point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Type, surface material, junction type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Amenities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OSM amenity tags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200 m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Count, type list, richness level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Green Space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OSM leisure=park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200 m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Boolean presence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Transit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OSM bus/train stops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300 m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Stop count, density level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Water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OSM waterway/natural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Nearest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Distance in meters, proximity bin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303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99999"/>
                </a:solidFill>
                <a:latin typeface="Calibri"/>
              </a:defRPr>
            </a:pPr>
            <a:r>
              <a:t>Land use classification uses a priority cascade:</a:t>
            </a:r>
            <a:br/>
            <a:r>
              <a:t>Explicit OSM tag &gt; Building type distribution &gt; Amenity density ratio &gt; Default (residential)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96C7"/>
                </a:solidFill>
                <a:latin typeface="Calibri"/>
              </a:defRPr>
            </a:pPr>
            <a:r>
              <a:t>Urbanization Tasks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E0E0E0"/>
                </a:solidFill>
                <a:latin typeface="Calibri"/>
              </a:defRPr>
            </a:pPr>
            <a:r>
              <a:t>10 question types probing urban structure, land use, and infrastructure</a:t>
            </a:r>
          </a:p>
          <a:p>
            <a:pPr>
              <a:spcAft>
                <a:spcPts val="800"/>
              </a:spcAft>
              <a:defRPr sz="2000">
                <a:solidFill>
                  <a:srgbClr val="E0E0E0"/>
                </a:solidFill>
                <a:latin typeface="Calibri"/>
              </a:defRPr>
            </a:pPr>
            <a:r>
              <a:t>Ground truth derived deterministically from OSM metadata (no human annotation)</a:t>
            </a:r>
          </a:p>
          <a:p>
            <a:pPr>
              <a:spcAft>
                <a:spcPts val="800"/>
              </a:spcAft>
              <a:defRPr sz="2000">
                <a:solidFill>
                  <a:srgbClr val="E0E0E0"/>
                </a:solidFill>
                <a:latin typeface="Calibri"/>
              </a:defRPr>
            </a:pPr>
            <a:r>
              <a:t>Template-based generation: 10 natural-language paraphrases per question type</a:t>
            </a:r>
          </a:p>
          <a:p>
            <a:pPr>
              <a:spcAft>
                <a:spcPts val="800"/>
              </a:spcAft>
              <a:defRPr sz="2000">
                <a:solidFill>
                  <a:srgbClr val="E0E0E0"/>
                </a:solidFill>
                <a:latin typeface="Calibri"/>
              </a:defRPr>
            </a:pPr>
            <a:r>
              <a:t>Multiple-choice format (A/B/C/D) with semantically valid distractors</a:t>
            </a:r>
          </a:p>
          <a:p>
            <a:pPr>
              <a:spcAft>
                <a:spcPts val="800"/>
              </a:spcAft>
              <a:defRPr sz="2000">
                <a:solidFill>
                  <a:srgbClr val="E0E0E0"/>
                </a:solidFill>
                <a:latin typeface="Calibri"/>
              </a:defRPr>
            </a:pPr>
            <a:r>
              <a:t>Each sample generates all feasible questions; best one selected via diversity heuristic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96C7"/>
                </a:solidFill>
                <a:latin typeface="Calibri"/>
              </a:defRPr>
            </a:pPr>
            <a:r>
              <a:t>Urbanization: Question Types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286000" cy="38100"/>
          </a:xfrm>
          <a:prstGeom prst="rect">
            <a:avLst/>
          </a:prstGeom>
          <a:solidFill>
            <a:srgbClr val="0096C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105156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5029200"/>
                <a:gridCol w="164592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Question Type</a:t>
                      </a:r>
                    </a:p>
                  </a:txBody>
                  <a:tcPr anchor="ctr">
                    <a:solidFill>
                      <a:srgbClr val="0050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Answer Categories</a:t>
                      </a:r>
                    </a:p>
                  </a:txBody>
                  <a:tcPr anchor="ctr">
                    <a:solidFill>
                      <a:srgbClr val="0050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Difficulty</a:t>
                      </a:r>
                    </a:p>
                  </a:txBody>
                  <a:tcPr anchor="ctr">
                    <a:solidFill>
                      <a:srgbClr val="0050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Modality</a:t>
                      </a:r>
                    </a:p>
                  </a:txBody>
                  <a:tcPr anchor="ctr">
                    <a:solidFill>
                      <a:srgbClr val="00507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Land Use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8 types (residential, commercial, industrial, ...)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Easy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Sat + SV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Building Height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4 ranges (1-3, 4-7, 8-20, 20+ floors)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Easy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Sat + SV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Urban Density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4 levels (0-15, 16-50, 51-150, 150+ bldgs)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Sat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Road Type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6 types (motorway to residential)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Easy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SV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Road Surface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4 types (asphalt, cobblestone, unpaved, concrete)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Easy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SV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Junction Type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4 types (roundabout, signalized, ...)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SV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Green Space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Yes / No + context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Easy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Sat + SV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Amenity Richness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4 levels (high / moderate / low / minimal)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SV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Transit Density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4 levels (none / low / moderate / high)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Sat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Water Proximity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 bins (0-50m, 50-150m, 150m+)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Sat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96C7"/>
                </a:solidFill>
                <a:latin typeface="Calibri"/>
              </a:defRPr>
            </a:pPr>
            <a:r>
              <a:t>Answer &amp; Distractor Generation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E0E0E0"/>
                </a:solidFill>
                <a:latin typeface="Calibri"/>
              </a:defRPr>
            </a:pPr>
            <a:r>
              <a:t>Answers are deterministic: derived programmatically from OSM tags and geometry</a:t>
            </a:r>
          </a:p>
          <a:p>
            <a:pPr lvl="1">
              <a:spcAft>
                <a:spcPts val="400"/>
              </a:spcAft>
              <a:defRPr sz="1600">
                <a:solidFill>
                  <a:srgbClr val="999999"/>
                </a:solidFill>
                <a:latin typeface="Calibri"/>
              </a:defRPr>
            </a:pPr>
            <a:r>
              <a:t>Example: building_height answer = bin(median OSM building:levels within 200m)</a:t>
            </a:r>
          </a:p>
          <a:p>
            <a:pPr lvl="1">
              <a:spcAft>
                <a:spcPts val="400"/>
              </a:spcAft>
              <a:defRPr sz="1600">
                <a:solidFill>
                  <a:srgbClr val="999999"/>
                </a:solidFill>
                <a:latin typeface="Calibri"/>
              </a:defRPr>
            </a:pPr>
            <a:r>
              <a:t>Example: land_use = priority cascade over OSM tags, building types, amenity density</a:t>
            </a:r>
          </a:p>
          <a:p>
            <a:pPr>
              <a:spcAft>
                <a:spcPts val="800"/>
              </a:spcAft>
              <a:defRPr sz="2000">
                <a:solidFill>
                  <a:srgbClr val="E0E0E0"/>
                </a:solidFill>
                <a:latin typeface="Calibri"/>
              </a:defRPr>
            </a:pPr>
            <a:r>
              <a:t>Distractors: all other valid options from the answer space</a:t>
            </a:r>
          </a:p>
          <a:p>
            <a:pPr lvl="1">
              <a:spcAft>
                <a:spcPts val="400"/>
              </a:spcAft>
              <a:defRPr sz="1600">
                <a:solidFill>
                  <a:srgbClr val="999999"/>
                </a:solidFill>
                <a:latin typeface="Calibri"/>
              </a:defRPr>
            </a:pPr>
            <a:r>
              <a:t>e.g., for building_height with answer '4-7 floors', distractors = {'1-3', '8-20', '20+'}</a:t>
            </a:r>
          </a:p>
          <a:p>
            <a:pPr>
              <a:spcAft>
                <a:spcPts val="800"/>
              </a:spcAft>
              <a:defRPr sz="2000">
                <a:solidFill>
                  <a:srgbClr val="E0E0E0"/>
                </a:solidFill>
                <a:latin typeface="Calibri"/>
              </a:defRPr>
            </a:pPr>
            <a:r>
              <a:t>Option order shuffled per question with reproducible RNG (seed=42)</a:t>
            </a:r>
          </a:p>
          <a:p>
            <a:pPr>
              <a:spcAft>
                <a:spcPts val="800"/>
              </a:spcAft>
              <a:defRPr sz="2000">
                <a:solidFill>
                  <a:srgbClr val="E0E0E0"/>
                </a:solidFill>
                <a:latin typeface="Calibri"/>
              </a:defRPr>
            </a:pPr>
            <a:r>
              <a:t>Answer key (A/B/C/D) distribution validated for balance across dataset</a:t>
            </a:r>
          </a:p>
          <a:p>
            <a:pPr>
              <a:spcAft>
                <a:spcPts val="800"/>
              </a:spcAft>
              <a:defRPr sz="2000">
                <a:solidFill>
                  <a:srgbClr val="E0E0E0"/>
                </a:solidFill>
                <a:latin typeface="Calibri"/>
              </a:defRPr>
            </a:pPr>
            <a:r>
              <a:t>Questions skipped if metadata is missing or ambiguous (e.g., no building:levels tag)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96C7"/>
                </a:solidFill>
                <a:latin typeface="Calibri"/>
              </a:defRPr>
            </a:pPr>
            <a:r>
              <a:t>Geolocalization Tasks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E0E0E0"/>
                </a:solidFill>
                <a:latin typeface="Calibri"/>
              </a:defRPr>
            </a:pPr>
            <a:r>
              <a:t>3 cross-modal alignment tasks testing satellite &lt;-&gt; street-view correspondence</a:t>
            </a:r>
          </a:p>
          <a:p>
            <a:pPr>
              <a:spcAft>
                <a:spcPts val="800"/>
              </a:spcAft>
              <a:defRPr sz="2000">
                <a:solidFill>
                  <a:srgbClr val="E0E0E0"/>
                </a:solidFill>
                <a:latin typeface="Calibri"/>
              </a:defRPr>
            </a:pPr>
            <a:r>
              <a:t>Camera Direction: which satellite arrow matches the street-view viewing angle?</a:t>
            </a:r>
          </a:p>
          <a:p>
            <a:pPr>
              <a:spcAft>
                <a:spcPts val="800"/>
              </a:spcAft>
              <a:defRPr sz="2000">
                <a:solidFill>
                  <a:srgbClr val="E0E0E0"/>
                </a:solidFill>
                <a:latin typeface="Calibri"/>
              </a:defRPr>
            </a:pPr>
            <a:r>
              <a:t>Mismatch Binary: does this street-view set match the marked satellite location? (yes/no)</a:t>
            </a:r>
          </a:p>
          <a:p>
            <a:pPr>
              <a:spcAft>
                <a:spcPts val="800"/>
              </a:spcAft>
              <a:defRPr sz="2000">
                <a:solidFill>
                  <a:srgbClr val="E0E0E0"/>
                </a:solidFill>
                <a:latin typeface="Calibri"/>
              </a:defRPr>
            </a:pPr>
            <a:r>
              <a:t>Mismatch MCQ: which of 4 street-view sets corresponds to the marked satellite? (4-way)</a:t>
            </a:r>
          </a:p>
          <a:p>
            <a:pPr>
              <a:spcAft>
                <a:spcPts val="800"/>
              </a:spcAft>
              <a:defRPr sz="2000">
                <a:solidFill>
                  <a:srgbClr val="E0E0E0"/>
                </a:solidFill>
                <a:latin typeface="Calibri"/>
              </a:defRPr>
            </a:pPr>
            <a:r>
              <a:t>Two difficulty strategies: same-city negatives (harder) vs cross-city negatives (easier)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96C7"/>
                </a:solidFill>
                <a:latin typeface="Calibri"/>
              </a:defRPr>
            </a:pPr>
            <a:r>
              <a:t>Geolocalization: Camera Direction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0096C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0E0"/>
                </a:solidFill>
                <a:latin typeface="Calibri"/>
              </a:defRPr>
            </a:pPr>
            <a:r>
              <a:t>Task: Given a street-view image, identify which satellite image (with directional arrow)</a:t>
            </a:r>
            <a:br/>
            <a:r>
              <a:t>shows the correct viewing direction.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560320"/>
            <a:ext cx="3200400" cy="3200400"/>
          </a:xfrm>
          <a:prstGeom prst="rect">
            <a:avLst/>
          </a:prstGeom>
          <a:solidFill>
            <a:srgbClr val="333350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7000"/>
              </a:spcBef>
              <a:defRPr sz="1400">
                <a:solidFill>
                  <a:srgbClr val="999999"/>
                </a:solidFill>
                <a:latin typeface="Calibri"/>
              </a:defRPr>
            </a:pPr>
            <a:r>
              <a:t>[TODO: Street view image</a:t>
            </a:r>
            <a:br/>
            <a:r>
              <a:t>(e.g., forward direction)]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2560320"/>
            <a:ext cx="2926080" cy="1371600"/>
          </a:xfrm>
          <a:prstGeom prst="rect">
            <a:avLst/>
          </a:prstGeom>
          <a:solidFill>
            <a:srgbClr val="333350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3000"/>
              </a:spcBef>
              <a:defRPr sz="1400">
                <a:solidFill>
                  <a:srgbClr val="999999"/>
                </a:solidFill>
                <a:latin typeface="Calibri"/>
              </a:defRPr>
            </a:pPr>
            <a:r>
              <a:t>[Satellite + arrow: A: Forward]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0" y="2560320"/>
            <a:ext cx="2926080" cy="1371600"/>
          </a:xfrm>
          <a:prstGeom prst="rect">
            <a:avLst/>
          </a:prstGeom>
          <a:solidFill>
            <a:srgbClr val="333350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3000"/>
              </a:spcBef>
              <a:defRPr sz="1400">
                <a:solidFill>
                  <a:srgbClr val="999999"/>
                </a:solidFill>
                <a:latin typeface="Calibri"/>
              </a:defRPr>
            </a:pPr>
            <a:r>
              <a:t>[Satellite + arrow: B: Right]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4206240"/>
            <a:ext cx="2926080" cy="1371600"/>
          </a:xfrm>
          <a:prstGeom prst="rect">
            <a:avLst/>
          </a:prstGeom>
          <a:solidFill>
            <a:srgbClr val="333350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3000"/>
              </a:spcBef>
              <a:defRPr sz="1400">
                <a:solidFill>
                  <a:srgbClr val="999999"/>
                </a:solidFill>
                <a:latin typeface="Calibri"/>
              </a:defRPr>
            </a:pPr>
            <a:r>
              <a:t>[Satellite + arrow: C: Backward]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4206240"/>
            <a:ext cx="2926080" cy="1371600"/>
          </a:xfrm>
          <a:prstGeom prst="rect">
            <a:avLst/>
          </a:prstGeom>
          <a:solidFill>
            <a:srgbClr val="333350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3000"/>
              </a:spcBef>
              <a:defRPr sz="1400">
                <a:solidFill>
                  <a:srgbClr val="999999"/>
                </a:solidFill>
                <a:latin typeface="Calibri"/>
              </a:defRPr>
            </a:pPr>
            <a:r>
              <a:t>[Satellite + arrow: D: Left]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Red directional arrows overlaid at satellite tile center, aligned to road bearing + 90 deg offsets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96C7"/>
                </a:solidFill>
                <a:latin typeface="Calibri"/>
              </a:defRPr>
            </a:pPr>
            <a:r>
              <a:t>Geolocalization: Mismatch Tasks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0096C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9900"/>
                </a:solidFill>
                <a:latin typeface="Calibri"/>
              </a:defRPr>
            </a:pPr>
            <a:r>
              <a:t>Mismatch Binary (Yes/No)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• Satellite (red dot) + street-view composite</a:t>
            </a:r>
          </a:p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• Positive: own location pair (answer: Yes)</a:t>
            </a:r>
          </a:p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• Negative: different location (answer: No)</a:t>
            </a:r>
          </a:p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• Same-city negatives = harder</a:t>
            </a:r>
          </a:p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• Cross-city negatives = easier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9900"/>
                </a:solidFill>
                <a:latin typeface="Calibri"/>
              </a:defRPr>
            </a:pPr>
            <a:r>
              <a:t>Mismatch MCQ (4-Way)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• Satellite (red dot) + 2x2 grid of SV composites</a:t>
            </a:r>
          </a:p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• 1 correct location + 3 distractors</a:t>
            </a:r>
          </a:p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• Each cell = 4-angle SV composite</a:t>
            </a:r>
          </a:p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• Answer: grid position (A/B/C/D)</a:t>
            </a:r>
          </a:p>
          <a:p>
            <a:pPr>
              <a:spcAft>
                <a:spcPts val="40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• Hardest geolocalization task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206240"/>
            <a:ext cx="5029200" cy="2286000"/>
          </a:xfrm>
          <a:prstGeom prst="rect">
            <a:avLst/>
          </a:prstGeom>
          <a:solidFill>
            <a:srgbClr val="333350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5000"/>
              </a:spcBef>
              <a:defRPr sz="1400">
                <a:solidFill>
                  <a:srgbClr val="999999"/>
                </a:solidFill>
                <a:latin typeface="Calibri"/>
              </a:defRPr>
            </a:pPr>
            <a:r>
              <a:t>[TODO: Mismatch Binary example</a:t>
            </a:r>
            <a:br/>
            <a:r>
              <a:t>(satellite + SV composite pair)]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4206240"/>
            <a:ext cx="5029200" cy="2286000"/>
          </a:xfrm>
          <a:prstGeom prst="rect">
            <a:avLst/>
          </a:prstGeom>
          <a:solidFill>
            <a:srgbClr val="333350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5000"/>
              </a:spcBef>
              <a:defRPr sz="1400">
                <a:solidFill>
                  <a:srgbClr val="999999"/>
                </a:solidFill>
                <a:latin typeface="Calibri"/>
              </a:defRPr>
            </a:pPr>
            <a:r>
              <a:t>[TODO: Mismatch MCQ example</a:t>
            </a:r>
            <a:br/>
            <a:r>
              <a:t>(satellite + 2x2 SV grid)]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96C7"/>
                </a:solidFill>
                <a:latin typeface="Calibri"/>
              </a:defRPr>
            </a:pPr>
            <a:r>
              <a:t>Question Selection &amp; Diversity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E0E0E0"/>
                </a:solidFill>
                <a:latin typeface="Calibri"/>
              </a:defRPr>
            </a:pPr>
            <a:r>
              <a:t>Each location generates 10-20 feasible questions; all stored in dataset</a:t>
            </a:r>
          </a:p>
          <a:p>
            <a:pPr>
              <a:spcAft>
                <a:spcPts val="800"/>
              </a:spcAft>
              <a:defRPr sz="2000">
                <a:solidFill>
                  <a:srgbClr val="E0E0E0"/>
                </a:solidFill>
                <a:latin typeface="Calibri"/>
              </a:defRPr>
            </a:pPr>
            <a:r>
              <a:t>Best question per location selected via scoring heuristic:</a:t>
            </a:r>
          </a:p>
          <a:p>
            <a:pPr lvl="1">
              <a:spcAft>
                <a:spcPts val="400"/>
              </a:spcAft>
              <a:defRPr sz="1600">
                <a:solidFill>
                  <a:srgbClr val="999999"/>
                </a:solidFill>
                <a:latin typeface="Calibri"/>
              </a:defRPr>
            </a:pPr>
            <a:r>
              <a:t>Topic rarity: penalize overused topics (score -= usage x 3)</a:t>
            </a:r>
          </a:p>
          <a:p>
            <a:pPr lvl="1">
              <a:spcAft>
                <a:spcPts val="400"/>
              </a:spcAft>
              <a:defRPr sz="1600">
                <a:solidFill>
                  <a:srgbClr val="999999"/>
                </a:solidFill>
                <a:latin typeface="Calibri"/>
              </a:defRPr>
            </a:pPr>
            <a:r>
              <a:t>Visual distinctiveness: bonus for extreme/unusual values (e.g., 20+ floor buildings)</a:t>
            </a:r>
          </a:p>
          <a:p>
            <a:pPr lvl="1">
              <a:spcAft>
                <a:spcPts val="400"/>
              </a:spcAft>
              <a:defRPr sz="1600">
                <a:solidFill>
                  <a:srgbClr val="999999"/>
                </a:solidFill>
                <a:latin typeface="Calibri"/>
              </a:defRPr>
            </a:pPr>
            <a:r>
              <a:t>Cross-modal preference: geolocalization tasks get baseline bonus</a:t>
            </a:r>
          </a:p>
          <a:p>
            <a:pPr lvl="1">
              <a:spcAft>
                <a:spcPts val="400"/>
              </a:spcAft>
              <a:defRPr sz="1600">
                <a:solidFill>
                  <a:srgbClr val="999999"/>
                </a:solidFill>
                <a:latin typeface="Calibri"/>
              </a:defRPr>
            </a:pPr>
            <a:r>
              <a:t>Rare land-use types rewarded (industrial, institutional &gt; residential)</a:t>
            </a:r>
          </a:p>
          <a:p>
            <a:pPr>
              <a:spcAft>
                <a:spcPts val="800"/>
              </a:spcAft>
              <a:defRPr sz="2000">
                <a:solidFill>
                  <a:srgbClr val="E0E0E0"/>
                </a:solidFill>
                <a:latin typeface="Calibri"/>
              </a:defRPr>
            </a:pPr>
            <a:r>
              <a:t>Result: balanced topic distribution across dataset, favoring rare and distinctive questions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96C7"/>
                </a:solidFill>
                <a:latin typeface="Calibri"/>
              </a:defRPr>
            </a:pPr>
            <a:r>
              <a:t>Quality Assurance &amp;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0096C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66751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Check</a:t>
                      </a:r>
                    </a:p>
                  </a:txBody>
                  <a:tcPr anchor="ctr">
                    <a:solidFill>
                      <a:srgbClr val="0050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Level</a:t>
                      </a:r>
                    </a:p>
                  </a:txBody>
                  <a:tcPr anchor="ctr">
                    <a:solidFill>
                      <a:srgbClr val="0050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Criterion</a:t>
                      </a:r>
                    </a:p>
                  </a:txBody>
                  <a:tcPr anchor="ctr">
                    <a:solidFill>
                      <a:srgbClr val="00507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Question presence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CRITICAL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Must have question field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Answer in options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CRITICAL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Answer key exists in A/B/C/D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Unique options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CRITICAL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All 4 options are distinct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Satellite image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CRITICAL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File exists AND &gt; 5 KB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Street view images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WARNING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At least 1 of 4 angles present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Answer distribution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WARNING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 single answer &gt; 40%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Topic diversity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WARNING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&gt;=3 distinct topics in dataset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City coverage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WARNING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&gt;=2 cities represented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120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99999"/>
                </a:solidFill>
                <a:latin typeface="Calibri"/>
              </a:defRPr>
            </a:pPr>
            <a:r>
              <a:t>Additional filters: tunnel detection (RGB channel spread heuristic),</a:t>
            </a:r>
            <a:br/>
            <a:r>
              <a:t>Street View snap distance &lt; 80 m, Sentinel-2 cloud coverage &lt; 20%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96C7"/>
                </a:solidFill>
                <a:latin typeface="Calibri"/>
              </a:defRPr>
            </a:pPr>
            <a:r>
              <a:t>Dataset Splits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E0E0E0"/>
                </a:solidFill>
                <a:latin typeface="Calibri"/>
              </a:defRPr>
            </a:pPr>
            <a:r>
              <a:t>Three-way location-level split: Train / Validation / Benchmark</a:t>
            </a:r>
          </a:p>
          <a:p>
            <a:pPr>
              <a:spcAft>
                <a:spcPts val="800"/>
              </a:spcAft>
              <a:defRPr sz="2000">
                <a:solidFill>
                  <a:srgbClr val="E0E0E0"/>
                </a:solidFill>
                <a:latin typeface="Calibri"/>
              </a:defRPr>
            </a:pPr>
            <a:r>
              <a:t>Seen cities (training): 32 cities used for training and in-distribution evaluation</a:t>
            </a:r>
          </a:p>
          <a:p>
            <a:pPr>
              <a:spcAft>
                <a:spcPts val="800"/>
              </a:spcAft>
              <a:defRPr sz="2000">
                <a:solidFill>
                  <a:srgbClr val="E0E0E0"/>
                </a:solidFill>
                <a:latin typeface="Calibri"/>
              </a:defRPr>
            </a:pPr>
            <a:r>
              <a:t>Unseen cities (zero-shot): 8 held-out cities for generalization testing</a:t>
            </a:r>
          </a:p>
          <a:p>
            <a:pPr lvl="1">
              <a:spcAft>
                <a:spcPts val="400"/>
              </a:spcAft>
              <a:defRPr sz="1600">
                <a:solidFill>
                  <a:srgbClr val="999999"/>
                </a:solidFill>
                <a:latin typeface="Calibri"/>
              </a:defRPr>
            </a:pPr>
            <a:r>
              <a:t>Istanbul, Moscow, Chicago, Seoul, Rio, Cape Town, Sydney, Singapore</a:t>
            </a:r>
          </a:p>
          <a:p>
            <a:pPr>
              <a:spcAft>
                <a:spcPts val="800"/>
              </a:spcAft>
              <a:defRPr sz="2000">
                <a:solidFill>
                  <a:srgbClr val="E0E0E0"/>
                </a:solidFill>
                <a:latin typeface="Calibri"/>
              </a:defRPr>
            </a:pPr>
            <a:r>
              <a:t>Benchmark: 10% per city, includes both seen and unseen cities</a:t>
            </a:r>
          </a:p>
          <a:p>
            <a:pPr lvl="1">
              <a:spcAft>
                <a:spcPts val="400"/>
              </a:spcAft>
              <a:defRPr sz="1600">
                <a:solidFill>
                  <a:srgbClr val="999999"/>
                </a:solidFill>
                <a:latin typeface="Calibri"/>
              </a:defRPr>
            </a:pPr>
            <a:r>
              <a:t>Stratified by question type with per-type downsampling targets</a:t>
            </a:r>
          </a:p>
          <a:p>
            <a:pPr>
              <a:spcAft>
                <a:spcPts val="800"/>
              </a:spcAft>
              <a:defRPr sz="2000">
                <a:solidFill>
                  <a:srgbClr val="E0E0E0"/>
                </a:solidFill>
                <a:latin typeface="Calibri"/>
              </a:defRPr>
            </a:pPr>
            <a:r>
              <a:t>Leak auditing: no distractor locations from unseen cities appear in training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96C7"/>
                </a:solidFill>
                <a:latin typeface="Calibri"/>
              </a:defRPr>
            </a:pPr>
            <a:r>
              <a:t>Dataset Statistics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0096C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029200" cy="2286000"/>
          </a:xfrm>
          <a:prstGeom prst="rect">
            <a:avLst/>
          </a:prstGeom>
          <a:solidFill>
            <a:srgbClr val="333350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5000"/>
              </a:spcBef>
              <a:defRPr sz="1400">
                <a:solidFill>
                  <a:srgbClr val="999999"/>
                </a:solidFill>
                <a:latin typeface="Calibri"/>
              </a:defRPr>
            </a:pPr>
            <a:r>
              <a:t>[TODO: Question type distribution chart]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371600"/>
            <a:ext cx="5029200" cy="2286000"/>
          </a:xfrm>
          <a:prstGeom prst="rect">
            <a:avLst/>
          </a:prstGeom>
          <a:solidFill>
            <a:srgbClr val="333350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5000"/>
              </a:spcBef>
              <a:defRPr sz="1400">
                <a:solidFill>
                  <a:srgbClr val="999999"/>
                </a:solidFill>
                <a:latin typeface="Calibri"/>
              </a:defRPr>
            </a:pPr>
            <a:r>
              <a:t>[TODO: Difficulty distribution chart]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931920"/>
            <a:ext cx="5029200" cy="2286000"/>
          </a:xfrm>
          <a:prstGeom prst="rect">
            <a:avLst/>
          </a:prstGeom>
          <a:solidFill>
            <a:srgbClr val="333350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5000"/>
              </a:spcBef>
              <a:defRPr sz="1400">
                <a:solidFill>
                  <a:srgbClr val="999999"/>
                </a:solidFill>
                <a:latin typeface="Calibri"/>
              </a:defRPr>
            </a:pPr>
            <a:r>
              <a:t>[TODO: City sample distribution chart]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3931920"/>
            <a:ext cx="5029200" cy="2286000"/>
          </a:xfrm>
          <a:prstGeom prst="rect">
            <a:avLst/>
          </a:prstGeom>
          <a:solidFill>
            <a:srgbClr val="333350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5000"/>
              </a:spcBef>
              <a:defRPr sz="1400">
                <a:solidFill>
                  <a:srgbClr val="999999"/>
                </a:solidFill>
                <a:latin typeface="Calibri"/>
              </a:defRPr>
            </a:pPr>
            <a:r>
              <a:t>[TODO: Answer key balance chart]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96C7"/>
                </a:solidFill>
                <a:latin typeface="Calibri"/>
              </a:defRPr>
            </a:pPr>
            <a:r>
              <a:t>Dataset Statistics (cont.)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0096C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029200" cy="2286000"/>
          </a:xfrm>
          <a:prstGeom prst="rect">
            <a:avLst/>
          </a:prstGeom>
          <a:solidFill>
            <a:srgbClr val="333350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5000"/>
              </a:spcBef>
              <a:defRPr sz="1400">
                <a:solidFill>
                  <a:srgbClr val="999999"/>
                </a:solidFill>
                <a:latin typeface="Calibri"/>
              </a:defRPr>
            </a:pPr>
            <a:r>
              <a:t>[TODO: Land use distribution]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371600"/>
            <a:ext cx="5029200" cy="2286000"/>
          </a:xfrm>
          <a:prstGeom prst="rect">
            <a:avLst/>
          </a:prstGeom>
          <a:solidFill>
            <a:srgbClr val="333350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5000"/>
              </a:spcBef>
              <a:defRPr sz="1400">
                <a:solidFill>
                  <a:srgbClr val="999999"/>
                </a:solidFill>
                <a:latin typeface="Calibri"/>
              </a:defRPr>
            </a:pPr>
            <a:r>
              <a:t>[TODO: Metadata coverage heatmap]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931920"/>
            <a:ext cx="5029200" cy="2286000"/>
          </a:xfrm>
          <a:prstGeom prst="rect">
            <a:avLst/>
          </a:prstGeom>
          <a:solidFill>
            <a:srgbClr val="333350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5000"/>
              </a:spcBef>
              <a:defRPr sz="1400">
                <a:solidFill>
                  <a:srgbClr val="999999"/>
                </a:solidFill>
                <a:latin typeface="Calibri"/>
              </a:defRPr>
            </a:pPr>
            <a:r>
              <a:t>[TODO: Additional statistics]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3931920"/>
            <a:ext cx="5029200" cy="2286000"/>
          </a:xfrm>
          <a:prstGeom prst="rect">
            <a:avLst/>
          </a:prstGeom>
          <a:solidFill>
            <a:srgbClr val="333350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5000"/>
              </a:spcBef>
              <a:defRPr sz="1400">
                <a:solidFill>
                  <a:srgbClr val="999999"/>
                </a:solidFill>
                <a:latin typeface="Calibri"/>
              </a:defRPr>
            </a:pPr>
            <a:r>
              <a:t>[TODO: Additional statistics]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96C7"/>
                </a:solidFill>
                <a:latin typeface="Calibri"/>
              </a:defRPr>
            </a:pPr>
            <a:r>
              <a:t>Example Samples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0096C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solidFill>
            <a:srgbClr val="333350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1000"/>
              </a:spcBef>
              <a:defRPr sz="1400">
                <a:solidFill>
                  <a:srgbClr val="999999"/>
                </a:solidFill>
                <a:latin typeface="Calibri"/>
              </a:defRPr>
            </a:pPr>
            <a:r>
              <a:t>[TODO: Urbanization task example</a:t>
            </a:r>
            <a:br/>
            <a:br/>
            <a:r>
              <a:t>Satellite + Street View + Question + Options]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371600"/>
            <a:ext cx="5029200" cy="5029200"/>
          </a:xfrm>
          <a:prstGeom prst="rect">
            <a:avLst/>
          </a:prstGeom>
          <a:solidFill>
            <a:srgbClr val="333350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1000"/>
              </a:spcBef>
              <a:defRPr sz="1400">
                <a:solidFill>
                  <a:srgbClr val="999999"/>
                </a:solidFill>
                <a:latin typeface="Calibri"/>
              </a:defRPr>
            </a:pPr>
            <a:r>
              <a:t>[TODO: Geolocalization task example</a:t>
            </a:r>
            <a:br/>
            <a:br/>
            <a:r>
              <a:t>Satellite (arrow/dot) + SV composite + Question]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96C7"/>
                </a:solidFill>
                <a:latin typeface="Calibri"/>
              </a:defRPr>
            </a:pPr>
            <a:r>
              <a:t>Summary &amp; Key Contributions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E0E0E0"/>
                </a:solidFill>
                <a:latin typeface="Calibri"/>
              </a:defRPr>
            </a:pPr>
            <a:r>
              <a:t>Multi-modal urban VQA dataset: satellite + street-view imagery across 13 global cities</a:t>
            </a:r>
          </a:p>
          <a:p>
            <a:pPr>
              <a:spcAft>
                <a:spcPts val="800"/>
              </a:spcAft>
              <a:defRPr sz="2000">
                <a:solidFill>
                  <a:srgbClr val="E0E0E0"/>
                </a:solidFill>
                <a:latin typeface="Calibri"/>
              </a:defRPr>
            </a:pPr>
            <a:r>
              <a:t>Two complementary task families: urbanization understanding + cross-view geolocalization</a:t>
            </a:r>
          </a:p>
          <a:p>
            <a:pPr>
              <a:spcAft>
                <a:spcPts val="800"/>
              </a:spcAft>
              <a:defRPr sz="2000">
                <a:solidFill>
                  <a:srgbClr val="E0E0E0"/>
                </a:solidFill>
                <a:latin typeface="Calibri"/>
              </a:defRPr>
            </a:pPr>
            <a:r>
              <a:t>Fully automated pipeline: deterministic ground truth from OSM (no manual annotation)</a:t>
            </a:r>
          </a:p>
          <a:p>
            <a:pPr>
              <a:spcAft>
                <a:spcPts val="800"/>
              </a:spcAft>
              <a:defRPr sz="2000">
                <a:solidFill>
                  <a:srgbClr val="E0E0E0"/>
                </a:solidFill>
                <a:latin typeface="Calibri"/>
              </a:defRPr>
            </a:pPr>
            <a:r>
              <a:t>13 question types with template-based linguistic diversity (10 paraphrases each)</a:t>
            </a:r>
          </a:p>
          <a:p>
            <a:pPr>
              <a:spcAft>
                <a:spcPts val="800"/>
              </a:spcAft>
              <a:defRPr sz="2000">
                <a:solidFill>
                  <a:srgbClr val="E0E0E0"/>
                </a:solidFill>
                <a:latin typeface="Calibri"/>
              </a:defRPr>
            </a:pPr>
            <a:r>
              <a:t>Rigorous quality assurance: multi-level validation, tunnel detection, leak auditing</a:t>
            </a:r>
          </a:p>
          <a:p>
            <a:pPr>
              <a:spcAft>
                <a:spcPts val="800"/>
              </a:spcAft>
              <a:defRPr sz="2000">
                <a:solidFill>
                  <a:srgbClr val="E0E0E0"/>
                </a:solidFill>
                <a:latin typeface="Calibri"/>
              </a:defRPr>
            </a:pPr>
            <a:r>
              <a:t>Benchmark-ready splits with seen/unseen city partitioning for zero-shot evaluation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96C7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99999"/>
                </a:solidFill>
                <a:latin typeface="Calibri"/>
              </a:defRPr>
            </a:pPr>
            <a:r>
              <a:t>[TODO: Contact information / GitHub link]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06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